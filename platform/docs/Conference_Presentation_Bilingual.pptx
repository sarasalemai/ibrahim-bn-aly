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46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16466">
              <a:alpha val="45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FBF71">
              <a:alpha val="30000"/>
            </a:srgbClr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4" name="Image 0" descr="/home/claude/paper/logo_alex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777240" cy="1088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438912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— FACULTY OF BUSINESS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00200" y="713232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الإسكندرية — كلية الأعمال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600200" y="1033272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Conference on Digital Sustainability for Achieving Egypt Vision 2030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00200" y="1298448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i="1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المؤتمر العلمي للاستدامة الرقمية لتحقيق رؤية مصر 2030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Transition to Digital Accounting and Financial</a:t>
            </a:r>
            <a:endParaRPr lang="en-US" sz="2500" dirty="0"/>
          </a:p>
          <a:p>
            <a:pPr marL="0" indent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and the Institutionalisation of Green</a:t>
            </a:r>
            <a:endParaRPr lang="en-US" sz="2500" dirty="0"/>
          </a:p>
          <a:p>
            <a:pPr marL="0" indent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 for Digital Sustainability in Egypt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التحول إلى المحاسبة والتقارير المالية الرقمية ومأسسة المحاسبة الخضراء لتحقيق الاستدامة الرقمية في مصر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4279392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Analytical Study in Light of Egypt Vision 2030   ·   دراسة تحليلية في ضوء رؤية </a:t>
            </a:r>
            <a:r>
              <a:rPr lang="en-US" sz="1350" i="1" dirty="0" err="1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مصر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" y="4800600"/>
            <a:ext cx="2926080" cy="0"/>
          </a:xfrm>
          <a:prstGeom prst="line">
            <a:avLst/>
          </a:prstGeom>
          <a:noFill/>
          <a:ln w="2540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731520" y="4919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 Salem   ·   د. سارة سالم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1520" y="5266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Finance Creator and Educator | Cairo University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55412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5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خبيرة تدريب في الذكاء الاصطناعي والتمويل جامعة القاهرة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58521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Researcher, Arab Academy for Management, Banking and Financial Sciences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6126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5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باحثة دكتوراه، الأكاديمية العربية للعلوم </a:t>
            </a:r>
            <a:r>
              <a:rPr lang="ar-SA" sz="115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 </a:t>
            </a:r>
            <a:r>
              <a:rPr lang="en-US" sz="115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</a:t>
            </a:r>
            <a:r>
              <a:rPr lang="ar-SA" sz="115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لمصرفية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 ·   سبتمبر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Roadmap   ·   خارطة العرض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116466">
              <a:alpha val="15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59536" y="1252728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6" name="Image 0" descr="/home/claude/paper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137342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978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 &amp; Questions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08760" y="1472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مشكلة البحث وأهدافه وأسئلته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1947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digitalisation and sustainability accounting must be read as one problem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896112" y="22585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يجب النظر إلى الرقمنة والمحاسبة عن الاستدامة كمشكلة واحدة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263640" y="105156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9"/>
          <p:cNvSpPr/>
          <p:nvPr/>
        </p:nvSpPr>
        <p:spPr>
          <a:xfrm>
            <a:off x="6483096" y="1252728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3" name="Image 1" descr="/home/claude/paper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797" y="1373429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1978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Theoretical Framework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132320" y="1472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المنهجية والإطار النظري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19672" y="1947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Descriptive-analytical design; five guiding theories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6519672" y="22585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وصفي تحليلي؛ خمس نظريات موجّهة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40080" y="278892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5"/>
          <p:cNvSpPr/>
          <p:nvPr/>
        </p:nvSpPr>
        <p:spPr>
          <a:xfrm>
            <a:off x="859536" y="2990088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0" name="Image 2" descr="/home/claude/paper/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7" y="3110789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29352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508760" y="32095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الأدبيات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96112" y="36850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ten studies establish — and leave open</a:t>
            </a:r>
            <a:endParaRPr lang="en-US" sz="980" dirty="0"/>
          </a:p>
        </p:txBody>
      </p:sp>
      <p:sp>
        <p:nvSpPr>
          <p:cNvPr id="24" name="Text 19"/>
          <p:cNvSpPr/>
          <p:nvPr/>
        </p:nvSpPr>
        <p:spPr>
          <a:xfrm>
            <a:off x="896112" y="39959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تؤكده عشر دراسات - وما تتركه مفتوحاً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6263640" y="278892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Shape 21"/>
          <p:cNvSpPr/>
          <p:nvPr/>
        </p:nvSpPr>
        <p:spPr>
          <a:xfrm>
            <a:off x="6483096" y="2990088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7" name="Image 3" descr="/home/claude/paper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797" y="3110789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32320" y="29352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Analysis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132320" y="32095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الطبقات الثلاث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519672" y="36850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 · disclosure · green accounting</a:t>
            </a:r>
            <a:endParaRPr lang="en-US" sz="980" dirty="0"/>
          </a:p>
        </p:txBody>
      </p:sp>
      <p:sp>
        <p:nvSpPr>
          <p:cNvPr id="31" name="Text 25"/>
          <p:cNvSpPr/>
          <p:nvPr/>
        </p:nvSpPr>
        <p:spPr>
          <a:xfrm>
            <a:off x="6519672" y="39959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الرقمية · الإفصاح · المحاسبة الخضراء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640080" y="45262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3" name="Shape 27"/>
          <p:cNvSpPr/>
          <p:nvPr/>
        </p:nvSpPr>
        <p:spPr>
          <a:xfrm>
            <a:off x="859536" y="4727448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34" name="Image 4" descr="/home/claude/paper/icons/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7" y="4848149"/>
            <a:ext cx="261518" cy="26151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08760" y="46725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&amp; Constraints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508760" y="49469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التقارب والمعوقات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96112" y="54223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connecting the three layers</a:t>
            </a:r>
            <a:endParaRPr lang="en-US" sz="980" dirty="0"/>
          </a:p>
        </p:txBody>
      </p:sp>
      <p:sp>
        <p:nvSpPr>
          <p:cNvPr id="38" name="Text 31"/>
          <p:cNvSpPr/>
          <p:nvPr/>
        </p:nvSpPr>
        <p:spPr>
          <a:xfrm>
            <a:off x="896112" y="573328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التي تربط الطبقات الثلاث</a:t>
            </a:r>
            <a:endParaRPr lang="en-US" sz="980" dirty="0"/>
          </a:p>
        </p:txBody>
      </p:sp>
      <p:sp>
        <p:nvSpPr>
          <p:cNvPr id="39" name="Shape 32"/>
          <p:cNvSpPr/>
          <p:nvPr/>
        </p:nvSpPr>
        <p:spPr>
          <a:xfrm>
            <a:off x="6263640" y="45262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0" name="Shape 33"/>
          <p:cNvSpPr/>
          <p:nvPr/>
        </p:nvSpPr>
        <p:spPr>
          <a:xfrm>
            <a:off x="6483096" y="4727448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41" name="Image 5" descr="/home/claude/paper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3797" y="4848149"/>
            <a:ext cx="261518" cy="26151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132320" y="46725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Recommendations &amp; Conclusion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7132320" y="49469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والتوصيات والخاتمة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6519672" y="54223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conclusions and a roadmap for Egypt Vision 2030</a:t>
            </a:r>
            <a:endParaRPr lang="en-US" sz="980" dirty="0"/>
          </a:p>
        </p:txBody>
      </p:sp>
      <p:sp>
        <p:nvSpPr>
          <p:cNvPr id="45" name="Text 37"/>
          <p:cNvSpPr/>
          <p:nvPr/>
        </p:nvSpPr>
        <p:spPr>
          <a:xfrm>
            <a:off x="6519672" y="573328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نتائج وخارطة طريق لرؤية مصر 2030</a:t>
            </a:r>
            <a:endParaRPr lang="en-US" sz="980" dirty="0"/>
          </a:p>
        </p:txBody>
      </p:sp>
      <p:sp>
        <p:nvSpPr>
          <p:cNvPr id="46" name="Text 38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2FBF71">
              <a:alpha val="35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1691640" y="777240"/>
            <a:ext cx="914400" cy="9144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/home/claude/paper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96" y="996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7F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مشكلة البحث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576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 that rarely meet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5760" y="29443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i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مساران نادراً ما يلتقيان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has been driven by fiscal imperatives; sustainability reporting by regulatory ones. This study asks whether the transition to digital accounting can institutionalise green accounting under Egypt Vision 2030.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دفعت ضرورات مالية عملية الرقمنة، ودفعت ضرورات تنظيمية الإفصاح عن الاستدامة. تتساءل الدراسة عن إمكانية توظيف التحول الرقمي لترسيخ المحاسبة الخضراء وفق رؤية مصر 2030.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457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National Policy Tracks   ·   مساران وطنيان للسياسات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572000" y="1051560"/>
            <a:ext cx="6949440" cy="1783080"/>
          </a:xfrm>
          <a:prstGeom prst="roundRect">
            <a:avLst>
              <a:gd name="adj" fmla="val 4103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4773168" y="1234440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5" name="Image 1" descr="/home/claude/paper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869" y="135514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68112" y="1179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869680" y="11795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الرقمنة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68112" y="1508760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State-led, fiscally motivated: e-invoicing captures transactions at scale — built around the transaction, not the resource flow.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68112" y="2075688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بقيادة الدولة ولدوافع مالية: الفوترة الإلكترونية ترصد المعاملات على نطاق واسع - مبنية حول المعاملة لا تدفق الموارد.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2999232"/>
            <a:ext cx="6949440" cy="1783080"/>
          </a:xfrm>
          <a:prstGeom prst="roundRect">
            <a:avLst>
              <a:gd name="adj" fmla="val 4103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Shape 17"/>
          <p:cNvSpPr/>
          <p:nvPr/>
        </p:nvSpPr>
        <p:spPr>
          <a:xfrm>
            <a:off x="4773168" y="3182112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2" name="Image 2" descr="/home/claude/paper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69" y="3302813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68112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disclosure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869680" y="3127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الإفصاح عن الاستدامة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68112" y="3456432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Decrees 107 &amp; 108 (2021) mandate ESG output for listed firms — a disclosure requirement, not a measurement architecture.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68112" y="402336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يُلزم قرارا الرقابة المالية 107 و108 لسنة 2021 الشركات المقيدة بمخرجات ESG - وهو متطلب إفصاح لا بنية قياس.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0" y="4946904"/>
            <a:ext cx="6949440" cy="1783080"/>
          </a:xfrm>
          <a:prstGeom prst="roundRect">
            <a:avLst>
              <a:gd name="adj" fmla="val 4103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8" name="Shape 23"/>
          <p:cNvSpPr/>
          <p:nvPr/>
        </p:nvSpPr>
        <p:spPr>
          <a:xfrm>
            <a:off x="4773168" y="5129784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9" name="Image 3" descr="/home/claude/paper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869" y="5250485"/>
            <a:ext cx="261518" cy="26151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68112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869680" y="5074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68112" y="5404104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track specifies how sustainability data should be captured, governed and assured with the discipline applied to financial data.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68112" y="5971032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يحدد أي من المسارين كيفية جمع بيانات الاستدامة وحوكمتها والتأكد منها بنفس انضباط البيانات المالية.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   ·   أهداف البحث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859536" y="1197864"/>
            <a:ext cx="420624" cy="420624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859536" y="1197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44752" y="10972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drivers and current state of digital accounting and financial reporting in Egypt (2016–2026).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914400" y="174650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lnSpc>
                <a:spcPts val="1350"/>
              </a:lnSpc>
              <a:buNone/>
            </a:pPr>
            <a:r>
              <a:rPr lang="en-US" sz="103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محركات التحول للمحاسبة والتقارير المالية الرقمية في مصر وواقعها الحالي (2016-2026).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6483096" y="1197864"/>
            <a:ext cx="420624" cy="420624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483096" y="1197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8312" y="10972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the FRA sustainability disclosure regime has reshaped financial reporting, relative to the ISSB baseline.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537960" y="174650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lnSpc>
                <a:spcPts val="1350"/>
              </a:lnSpc>
              <a:buNone/>
            </a:pPr>
            <a:r>
              <a:rPr lang="en-US" sz="103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كيف أعاد نظام الإفصاح عن الاستدامة تشكيل التقارير المالية، مقارنة بمعايير ISSB.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859536" y="2843784"/>
            <a:ext cx="420624" cy="420624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859536" y="2843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44752" y="274320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green accounting can be embedded within digital infrastructure rather than layered upon it.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914400" y="339242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lnSpc>
                <a:spcPts val="1350"/>
              </a:lnSpc>
              <a:buNone/>
            </a:pPr>
            <a:r>
              <a:rPr lang="en-US" sz="103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إمكانية دمج المحاسبة الخضراء داخل البنية الرقمية بدلاً من إضافتها فوقها.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263640" y="26060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6483096" y="2843784"/>
            <a:ext cx="420624" cy="420624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6483096" y="2843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68312" y="274320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institutional, professional and technical constraints limiting integration under Egypt Vision 2030.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537960" y="339242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lnSpc>
                <a:spcPts val="1350"/>
              </a:lnSpc>
              <a:buNone/>
            </a:pPr>
            <a:r>
              <a:rPr lang="en-US" sz="103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المعوقات المؤسسية والمهنية والتقنية التي تحد من هذا التكامل في ضوء رؤية مصر 2030.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Research Question   ·   السؤال البحثي الرئيسي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914400" y="47365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transition to digital accounting and financial reporting in Egypt be leveraged to institutionalise green accounting and digital sustainability in a manner consistent with Egypt Vision 2030?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يمكن توظيف التحول إلى المحاسبة والتقارير المالية الرقمية في مصر لترسيخ المحاسبة الخضراء والاستدامة الرقمية بما يتسق مع رؤية مصر 2030؟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114800"/>
            <a:ext cx="3657600" cy="3657600"/>
          </a:xfrm>
          <a:prstGeom prst="ellipse">
            <a:avLst/>
          </a:prstGeom>
          <a:solidFill>
            <a:srgbClr val="116466">
              <a:alpha val="40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  ·   منهجية البحث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Descriptive-analytical design, built on documentary analysis of secondary sources, 2016–2026.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13385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50" i="1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وصفي تحليلي يعتمد على التحليل الوثائقي لمصادر ثانوية، 2016-2026.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859536" y="173736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8" name="Image 0" descr="/home/claude/paper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470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04672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الأدبيات العلمية المحكّمة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" y="33101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 accounting &amp; auditing; ESG in emerging markets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04672" y="3822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التحول الرقمي في المحاسبة والمراجعة؛ الاستدامة بالأسواق الناشئة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401568" y="1536192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Shape 11"/>
          <p:cNvSpPr/>
          <p:nvPr/>
        </p:nvSpPr>
        <p:spPr>
          <a:xfrm>
            <a:off x="3621024" y="173736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5" name="Image 1" descr="/home/claude/paper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84708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regulatory instruments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356616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التشريعات التنظيمية المصرية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66160" y="33101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Decrees 107 &amp; 108; Egypt Vision 2030 documents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3566160" y="3822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 الرقابة المالية 107 و108؛ وثائق رؤية مصر 2030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6163056" y="1536192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Shape 17"/>
          <p:cNvSpPr/>
          <p:nvPr/>
        </p:nvSpPr>
        <p:spPr>
          <a:xfrm>
            <a:off x="6382512" y="173736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2" name="Image 2" descr="/home/claude/paper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4708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7648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standard-setters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6327648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الجهات الدولية للمعايير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327648" y="33101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ISSB (IFRS S1/S2), GRI, TCFD materials</a:t>
            </a:r>
            <a:endParaRPr lang="en-US" sz="880" dirty="0"/>
          </a:p>
        </p:txBody>
      </p:sp>
      <p:sp>
        <p:nvSpPr>
          <p:cNvPr id="26" name="Text 21"/>
          <p:cNvSpPr/>
          <p:nvPr/>
        </p:nvSpPr>
        <p:spPr>
          <a:xfrm>
            <a:off x="6327648" y="3822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إصدارات ISSB وGRI وTCFD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8924544" y="1536192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Shape 23"/>
          <p:cNvSpPr/>
          <p:nvPr/>
        </p:nvSpPr>
        <p:spPr>
          <a:xfrm>
            <a:off x="9144000" y="173736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9" name="Image 3" descr="/home/claude/paper/icons/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18470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89136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Multilateral institution reports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9089136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المؤسسات الدولية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089136" y="33101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reporting on sustainable finance in Egypt</a:t>
            </a:r>
            <a:endParaRPr lang="en-US" sz="880" dirty="0"/>
          </a:p>
        </p:txBody>
      </p:sp>
      <p:sp>
        <p:nvSpPr>
          <p:cNvPr id="33" name="Text 27"/>
          <p:cNvSpPr/>
          <p:nvPr/>
        </p:nvSpPr>
        <p:spPr>
          <a:xfrm>
            <a:off x="9089136" y="3822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البنك الدولي عن التمويل المستدام في مصر</a:t>
            </a:r>
            <a:endParaRPr lang="en-US" sz="880" dirty="0"/>
          </a:p>
        </p:txBody>
      </p:sp>
      <p:sp>
        <p:nvSpPr>
          <p:cNvPr id="34" name="Text 28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   ·   النطاق والحدود</a:t>
            </a:r>
            <a:endParaRPr lang="en-US" sz="1450" dirty="0"/>
          </a:p>
        </p:txBody>
      </p:sp>
      <p:sp>
        <p:nvSpPr>
          <p:cNvPr id="35" name="Shape 29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Text 30"/>
          <p:cNvSpPr/>
          <p:nvPr/>
        </p:nvSpPr>
        <p:spPr>
          <a:xfrm>
            <a:off x="914400" y="50292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analysis only — no surveys or interviews. Claims about internal entity-level practice are theoretical expectations grounded in institutional and legitimacy theory, not verified facts.</a:t>
            </a:r>
            <a:endParaRPr lang="en-US" sz="1030" dirty="0"/>
          </a:p>
        </p:txBody>
      </p:sp>
      <p:sp>
        <p:nvSpPr>
          <p:cNvPr id="37" name="Text 31"/>
          <p:cNvSpPr/>
          <p:nvPr/>
        </p:nvSpPr>
        <p:spPr>
          <a:xfrm>
            <a:off x="914400" y="56509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وثائقي فقط - دون استبيانات أو مقابلات. الادعاءات المتعلقة بالممارسات الداخلية للشركات تُطرح كتوقعات نظرية مبنية على نظريتي المؤسسية والشرعية، لا كحقائق موثقة.</a:t>
            </a:r>
            <a:endParaRPr lang="en-US" sz="1080" dirty="0"/>
          </a:p>
        </p:txBody>
      </p:sp>
      <p:sp>
        <p:nvSpPr>
          <p:cNvPr id="38" name="Text 3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Foundations   ·   الأسس النظرية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perspectives, each addressing a distinct facet of the research problem.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41248" y="1389888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6" name="Image 0" descr="/home/claude/paper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4996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568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Theory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2231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نظرية أصحاب المصلحة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786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extending the reporting boundary to environmental and social performance (Freeman, 1984).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تبرر توسيع حدود التقرير ليشمل الأداء البيئي والاجتماعي (فريمان، 1984).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24528" y="1207008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9"/>
          <p:cNvSpPr/>
          <p:nvPr/>
        </p:nvSpPr>
        <p:spPr>
          <a:xfrm>
            <a:off x="4425696" y="1389888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3" name="Image 1" descr="/home/claude/paper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4996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19568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 Theory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407408" y="2231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نظرية الشرعية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07408" y="25786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symbolic compliance: disclosure to secure legitimacy without measurement (Suchman, 1995).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407408" y="31089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تفسر الامتثال الرمزي: إفصاح لكسب الشرعية دون قياس فعلي (سوشمان، 1995).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08976" y="1207008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5"/>
          <p:cNvSpPr/>
          <p:nvPr/>
        </p:nvSpPr>
        <p:spPr>
          <a:xfrm>
            <a:off x="8010144" y="1389888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0" name="Image 2" descr="/home/claude/paper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49961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91856" y="19568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Theory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991856" y="2231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النظرية المؤسسية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91856" y="25786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decoupling of formal structure from operational practice (DiMaggio &amp; Powell, 1983).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91856" y="31089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تتنبأ بانفصال الهيكل الشكلي عن الممارسة الفعلية (ديماجيو وباول، 1983).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40080" y="397764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Shape 21"/>
          <p:cNvSpPr/>
          <p:nvPr/>
        </p:nvSpPr>
        <p:spPr>
          <a:xfrm>
            <a:off x="841248" y="416052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7" name="Image 3" descr="/home/claude/paper/icons/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270248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2960" y="4727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Theory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22960" y="5001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نظرية الإشارة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5349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Credible, verified disclosure lowers cost of capital (Spence, 1973).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22960" y="58795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الإفصاح الموثوق والمُتحقق منه يخفض تكلفة رأس المال (سبنس، 1973).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224528" y="397764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3" name="Shape 27"/>
          <p:cNvSpPr/>
          <p:nvPr/>
        </p:nvSpPr>
        <p:spPr>
          <a:xfrm>
            <a:off x="4425696" y="416052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34" name="Image 4" descr="/home/claude/paper/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7024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07408" y="4727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Adoption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407408" y="5001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تبني التكنولوجيا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407408" y="5349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depends on technology, readiness &amp; pressure (Tornatzky &amp; Fleischer, 1990; Venkatesh et al., 2003).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4407408" y="58795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يعتمد التبني على التقنية والجاهزية والضغط البيئي (تورناتزكي وفلايشر، 1990).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Establishes   ·   ماذا تؤكد الأدبيات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841248" y="1179576"/>
            <a:ext cx="566928" cy="566928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/home/claude/paper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11" y="131563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0698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reshapes evidence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0698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التكنولوجيا تعيد تشكيل الأدلة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600200" y="1380744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and AI enable continuous, real-time verification (Dai &amp; Vasarhelyi, 2017; Han et al., 2023).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00200" y="1856232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تتيح تقنية البلوك تشين والذكاء الاصطناعي تحققاً مستمراً وفورياً (داي وفاسارهيلي، 2017؛ هان وآخرون، 2023).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532888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1" name="Shape 8"/>
          <p:cNvSpPr/>
          <p:nvPr/>
        </p:nvSpPr>
        <p:spPr>
          <a:xfrm>
            <a:off x="841248" y="2752344"/>
            <a:ext cx="566928" cy="566928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2" name="Image 1" descr="/home/claude/paper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11" y="288840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6426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outpaces implementation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63840" y="26426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النظرية تسبق التطبيق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600200" y="295351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remains conceptual; empirical evidence is scarce in emerging markets (Garanina et al., 2022).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600200" y="342900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يزال البحث نظرياً في معظمه، وتندر الأدلة التطبيقية في الأسواق الناشئة (جارانينا وآخرون، 2022).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4105656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4"/>
          <p:cNvSpPr/>
          <p:nvPr/>
        </p:nvSpPr>
        <p:spPr>
          <a:xfrm>
            <a:off x="841248" y="4325112"/>
            <a:ext cx="566928" cy="566928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9" name="Image 2" descr="/home/claude/paper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11" y="446117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21538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can decouple from practice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863840" y="42153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ينفصل الإفصاح عن الممارسة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600200" y="45262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often detached from measurement; governance determines the gap (Abdelmoneim &amp; El-Deeb, 2024).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600200" y="5001768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غالباً ما ينفصل الإفصاح عن القياس، وتحدد الحوكمة حجم هذه الفجوة (عبد المنعم والديب، 2024).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" y="539496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0"/>
          <p:cNvSpPr/>
          <p:nvPr/>
        </p:nvSpPr>
        <p:spPr>
          <a:xfrm>
            <a:off x="868680" y="5486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study addresses   ·   الفجوة التي تتناولها الدراسة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68680" y="57607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digital infrastructure in emerging economies can carry sustainability data at financial-statement reliability.</a:t>
            </a:r>
            <a:endParaRPr lang="en-US" sz="980" dirty="0"/>
          </a:p>
        </p:txBody>
      </p:sp>
      <p:sp>
        <p:nvSpPr>
          <p:cNvPr id="27" name="Text 22"/>
          <p:cNvSpPr/>
          <p:nvPr/>
        </p:nvSpPr>
        <p:spPr>
          <a:xfrm>
            <a:off x="868680" y="603504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تستطيع البنية الرقمية في الاقتصادات الناشئة حمل بيانات الاستدامة بموثوقية القوائم المالية؟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 ·   التحليل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Gap   ·   ثلاث طبقات وفجوة واحدة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and sustainability disclosure have advanced without a shared measurement architecture.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566928" cy="566928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7" name="Image 0" descr="/home/claude/paper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180027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9536" y="26151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الرقمية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29260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but narrow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9536" y="3163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i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عميقة لكنها ضيقة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9536" y="3520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captures transactions at scale — but not physical resource flows. Built around the transaction because it is the object of fiscal interest.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59536" y="46177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40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ترصد الفوترة الإلكترونية المعاملات على نطاق واسع - لا تدفقات الموارد الفعلية. بُنيت حول المعاملة لأنها محل الاهتمام الضريبي.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434840" y="141732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Shape 12"/>
          <p:cNvSpPr/>
          <p:nvPr/>
        </p:nvSpPr>
        <p:spPr>
          <a:xfrm>
            <a:off x="4709160" y="1664208"/>
            <a:ext cx="566928" cy="566928"/>
          </a:xfrm>
          <a:prstGeom prst="ellipse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6" name="Image 1" descr="/home/claude/paper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223" y="1800271"/>
            <a:ext cx="294803" cy="29480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54296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Regulation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54296" y="26151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الإفصاح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54296" y="29260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Mandate, no method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654296" y="3163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i="1" dirty="0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 بلا منهجية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654296" y="3520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Decrees 107/108 standardise output via prescribed forms — without prescribing measurement methodology, governance or assurance.</a:t>
            </a:r>
            <a:endParaRPr lang="en-US" sz="980" dirty="0"/>
          </a:p>
        </p:txBody>
      </p:sp>
      <p:sp>
        <p:nvSpPr>
          <p:cNvPr id="22" name="Text 18"/>
          <p:cNvSpPr/>
          <p:nvPr/>
        </p:nvSpPr>
        <p:spPr>
          <a:xfrm>
            <a:off x="4654296" y="46177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40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يوحّد القراران 107/108 المخرجات عبر نماذج محددة - دون تحديد منهجية القياس أو الحوكمة أو التأكيد.</a:t>
            </a:r>
            <a:endParaRPr lang="en-US" sz="980" dirty="0"/>
          </a:p>
        </p:txBody>
      </p:sp>
      <p:sp>
        <p:nvSpPr>
          <p:cNvPr id="23" name="Shape 19"/>
          <p:cNvSpPr/>
          <p:nvPr/>
        </p:nvSpPr>
        <p:spPr>
          <a:xfrm>
            <a:off x="8229600" y="141732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0"/>
          <p:cNvSpPr/>
          <p:nvPr/>
        </p:nvSpPr>
        <p:spPr>
          <a:xfrm>
            <a:off x="8503920" y="1664208"/>
            <a:ext cx="566928" cy="566928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5" name="Image 2" descr="/home/claude/paper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983" y="1800271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49056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Accounting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8449056" y="26151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المحاسبة الخضراء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449056" y="29260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not measuring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449056" y="3163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i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إفصاح لا قياس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449056" y="3520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theoretical reading here, an outside-in configuration: the regulator’s form drives collection, keeping data external to the ledger.</a:t>
            </a:r>
            <a:endParaRPr lang="en-US" sz="980" dirty="0"/>
          </a:p>
        </p:txBody>
      </p:sp>
      <p:sp>
        <p:nvSpPr>
          <p:cNvPr id="31" name="Text 26"/>
          <p:cNvSpPr/>
          <p:nvPr/>
        </p:nvSpPr>
        <p:spPr>
          <a:xfrm>
            <a:off x="8449056" y="46177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40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وفق القراءة النظرية هنا، ممارسة من الخارج إلى الداخل: يقود نموذج الجهة الرقابية جمع البيانات فتظل خارج الدفاتر.</a:t>
            </a:r>
            <a:endParaRPr lang="en-US" sz="980" dirty="0"/>
          </a:p>
        </p:txBody>
      </p:sp>
      <p:sp>
        <p:nvSpPr>
          <p:cNvPr id="32" name="Text 27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16466">
              <a:alpha val="40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 ·   التحليل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Sustainability as an Architectural 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104241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الاستدامة الرقمية كمسألة بنيوية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would admit sustainability data as a first-class data class.   ·   أربعة شروط تتيح إدخال بيانات الاستدامة كفئة بيانات أساسية.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8" name="Shape 6"/>
          <p:cNvSpPr/>
          <p:nvPr/>
        </p:nvSpPr>
        <p:spPr>
          <a:xfrm>
            <a:off x="841248" y="2084832"/>
            <a:ext cx="420624" cy="420624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65176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1" name="Image 0" descr="/home/claude/paper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7614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 Source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الرصد من المصدر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consumption and emission data recorded at the point of occurrence, with transaction-capture discipline.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04672" y="5074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تُسجَّل بيانات الاستهلاك والانبعاثات عند نقطة حدوثها، بنفس انضباط رصد المعاملات.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401568" y="187452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Shape 14"/>
          <p:cNvSpPr/>
          <p:nvPr/>
        </p:nvSpPr>
        <p:spPr>
          <a:xfrm>
            <a:off x="3602736" y="2084832"/>
            <a:ext cx="420624" cy="420624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5"/>
          <p:cNvSpPr/>
          <p:nvPr/>
        </p:nvSpPr>
        <p:spPr>
          <a:xfrm>
            <a:off x="3602736" y="2084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602736" y="265176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0" name="Image 1" descr="/home/claude/paper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76148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66160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Governance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566160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بيانات موحدة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566160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ownership, documented methodology, version and access control — as with financial data.</a:t>
            </a:r>
            <a:endParaRPr lang="en-US" sz="880" dirty="0"/>
          </a:p>
        </p:txBody>
      </p:sp>
      <p:sp>
        <p:nvSpPr>
          <p:cNvPr id="24" name="Text 20"/>
          <p:cNvSpPr/>
          <p:nvPr/>
        </p:nvSpPr>
        <p:spPr>
          <a:xfrm>
            <a:off x="3566160" y="5074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ملكية محددة ومنهجية موثقة وضبط للإصدارات والصلاحيات - كالبيانات المالية.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6163056" y="187452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2"/>
          <p:cNvSpPr/>
          <p:nvPr/>
        </p:nvSpPr>
        <p:spPr>
          <a:xfrm>
            <a:off x="6364224" y="2084832"/>
            <a:ext cx="420624" cy="420624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3"/>
          <p:cNvSpPr/>
          <p:nvPr/>
        </p:nvSpPr>
        <p:spPr>
          <a:xfrm>
            <a:off x="6364224" y="2084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6364224" y="265176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9" name="Image 2" descr="/home/claude/paper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761488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27648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Taxonomy-Based Reporting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327648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بتصنيف موحد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327648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machine-readable disclosures: computable and comparable across entities.</a:t>
            </a:r>
            <a:endParaRPr lang="en-US" sz="880" dirty="0"/>
          </a:p>
        </p:txBody>
      </p:sp>
      <p:sp>
        <p:nvSpPr>
          <p:cNvPr id="33" name="Text 28"/>
          <p:cNvSpPr/>
          <p:nvPr/>
        </p:nvSpPr>
        <p:spPr>
          <a:xfrm>
            <a:off x="6327648" y="5074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إفصاحات مُهيكلة قابلة للقراءة الآلية: قابلة للحوسبة والمقارنة.</a:t>
            </a:r>
            <a:endParaRPr lang="en-US" sz="880" dirty="0"/>
          </a:p>
        </p:txBody>
      </p:sp>
      <p:sp>
        <p:nvSpPr>
          <p:cNvPr id="34" name="Shape 29"/>
          <p:cNvSpPr/>
          <p:nvPr/>
        </p:nvSpPr>
        <p:spPr>
          <a:xfrm>
            <a:off x="8924544" y="187452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Shape 30"/>
          <p:cNvSpPr/>
          <p:nvPr/>
        </p:nvSpPr>
        <p:spPr>
          <a:xfrm>
            <a:off x="9125712" y="2084832"/>
            <a:ext cx="420624" cy="420624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Text 31"/>
          <p:cNvSpPr/>
          <p:nvPr/>
        </p:nvSpPr>
        <p:spPr>
          <a:xfrm>
            <a:off x="9125712" y="2084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9125712" y="265176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38" name="Image 3" descr="/home/claude/paper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761488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089136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Assurability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9089136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0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تأكيد مُصمَّمة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9089136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verifier can trace a figure to evidence and re-perform its computation.</a:t>
            </a:r>
            <a:endParaRPr lang="en-US" sz="880" dirty="0"/>
          </a:p>
        </p:txBody>
      </p:sp>
      <p:sp>
        <p:nvSpPr>
          <p:cNvPr id="42" name="Text 36"/>
          <p:cNvSpPr/>
          <p:nvPr/>
        </p:nvSpPr>
        <p:spPr>
          <a:xfrm>
            <a:off x="9089136" y="5074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8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يستطيع مُدقق مستقل تتبع الرقم إلى دليله وإعادة حسابه.</a:t>
            </a:r>
            <a:endParaRPr lang="en-US" sz="880" dirty="0"/>
          </a:p>
        </p:txBody>
      </p:sp>
      <p:sp>
        <p:nvSpPr>
          <p:cNvPr id="43" name="Text 37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 ·   التحليل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Technology, Different Purpose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500" b="1" dirty="0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التقنية بغرض مختلف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sensor infrastructure already exist in Egyptian industry — but not for sustainability reporting.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8" name="Image 0" descr="/home/claude/paper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14093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482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deployed today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508760" y="23042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منتشر حالياً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2697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resource planning systems, sensor networks and industrial IoT instrumentation — used chiefly for process control, predictive maintenance and quality assurance.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35204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03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أنظمة تخطيط الموارد، وشبكات الاستشعار، وأجهزة إنترنت الأشياء الصناعية - تُستخدم أساساً لضبط العمليات والصيانة التنبؤية وضمان الجودة.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868680" y="4434840"/>
            <a:ext cx="480060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1"/>
          <p:cNvSpPr/>
          <p:nvPr/>
        </p:nvSpPr>
        <p:spPr>
          <a:xfrm>
            <a:off x="868680" y="45262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i="1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on available evidence, wired into sustainability reporting pipelines.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868680" y="48463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ليست، وفق الأدلة المتاحة، موصولة بمنظومة تقارير الاستدامة.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" y="519379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contradiction with the manual, spreadsheet-based ESG compilation described elsewhere: two different uses of related technology.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6080760" y="178308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Shape 15"/>
          <p:cNvSpPr/>
          <p:nvPr/>
        </p:nvSpPr>
        <p:spPr>
          <a:xfrm>
            <a:off x="6309360" y="1993392"/>
            <a:ext cx="502920" cy="50292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9" name="Image 1" descr="/home/claude/paper/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61" y="2114093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49440" y="2048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94944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القيد الفعلي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09360" y="26700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availability of technology, but the absence of:   ·   ليس توفر التقنية، بل غياب: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355080" y="3246120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0"/>
          <p:cNvSpPr/>
          <p:nvPr/>
        </p:nvSpPr>
        <p:spPr>
          <a:xfrm>
            <a:off x="6537960" y="314553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to extend existing instrumentation to sustainability data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537960" y="341985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 بتوسيع الأجهزة القائمة لتشمل بيانات الاستدامة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6355080" y="3867912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3"/>
          <p:cNvSpPr/>
          <p:nvPr/>
        </p:nvSpPr>
        <p:spPr>
          <a:xfrm>
            <a:off x="6537960" y="376732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decision, in most entities, to make that extension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537960" y="404164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الداخلي، في معظم الكيانات، باتخاذ هذا التوسع</a:t>
            </a:r>
            <a:endParaRPr lang="en-US" sz="980" dirty="0"/>
          </a:p>
        </p:txBody>
      </p:sp>
      <p:sp>
        <p:nvSpPr>
          <p:cNvPr id="29" name="Shape 25"/>
          <p:cNvSpPr/>
          <p:nvPr/>
        </p:nvSpPr>
        <p:spPr>
          <a:xfrm>
            <a:off x="6355080" y="4489704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6"/>
          <p:cNvSpPr/>
          <p:nvPr/>
        </p:nvSpPr>
        <p:spPr>
          <a:xfrm>
            <a:off x="6537960" y="438912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architectural discipline applied to financial data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537960" y="466344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الانضباط البنيوي المطبق على البيانات المالية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6355080" y="5111496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29"/>
          <p:cNvSpPr/>
          <p:nvPr/>
        </p:nvSpPr>
        <p:spPr>
          <a:xfrm>
            <a:off x="6537960" y="501091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competence to construct and audit such systems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537960" y="528523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8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الكفاءة المهنية اللازمة لبناء ومراجعة هذه الأنظمة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 ·   التحليل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Constraints on Implementation   ·   خمسة معوقات أمام التطبيق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41248" y="137160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6" name="Image 0" descr="/home/claude/paper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481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38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Competence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2212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الكفاءة المهنية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must move between accounting, environmental measurement and data engineering.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30906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يجب أن يجمع الممارسون بين المحاسبة والقياس البيئي وهندسة البيانات.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24528" y="118872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Shape 9"/>
          <p:cNvSpPr/>
          <p:nvPr/>
        </p:nvSpPr>
        <p:spPr>
          <a:xfrm>
            <a:off x="4425696" y="137160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3" name="Image 1" descr="/home/claude/paper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4813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1938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Capability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407408" y="2212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 على التأكيد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07408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needs methods beyond documentary evidence: instrumentation integrity, pipeline controls.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407408" y="30906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البيانات المؤتمتة أساليب تتجاوز الأدلة المستندية: سلامة الأجهزة وضوابط البيانات.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08976" y="118872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Shape 15"/>
          <p:cNvSpPr/>
          <p:nvPr/>
        </p:nvSpPr>
        <p:spPr>
          <a:xfrm>
            <a:off x="8010144" y="137160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0" name="Image 2" descr="/home/claude/paper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48132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91856" y="1938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Footprint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991856" y="2212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البصمة البيئية للبنية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91856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and computation carry real energy costs — must sit within the reporting boundary.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91856" y="30906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تحمل مراكز البيانات تكاليف طاقة حقيقية - يجب إدراجها ضمن حدود التقرير.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40080" y="397764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1"/>
          <p:cNvSpPr/>
          <p:nvPr/>
        </p:nvSpPr>
        <p:spPr>
          <a:xfrm>
            <a:off x="841248" y="416052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7" name="Image 3" descr="/home/claude/paper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270248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2960" y="4727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22960" y="5001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5349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data concentrates risk; security is a condition of reliability, not a side concern.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22960" y="58795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مركزية البيانات تُركّز المخاطر؛ الأمن شرط للموثوقية لا اعتبار جانبي.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224528" y="3977640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Shape 27"/>
          <p:cNvSpPr/>
          <p:nvPr/>
        </p:nvSpPr>
        <p:spPr>
          <a:xfrm>
            <a:off x="4425696" y="4160520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34" name="Image 4" descr="/home/claude/paper/icons/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7024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07408" y="4727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Proportionality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407408" y="5001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التناسب مع المنشآت الصغيرة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407408" y="5349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 thresholds push the data burden onto smaller value-chain suppliers.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4407408" y="58795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تدفع حدود الإعفاء عبء البيانات نحو الموردين الأصغر بسلسلة القيمة.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16466">
              <a:alpha val="45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 ·   التحليل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Egypt Vision 2030   ·   الاتساق مع رؤية مصر 2030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59536" y="1536192"/>
            <a:ext cx="548640" cy="54864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7" name="Image 0" descr="/home/claude/paper/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166786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4264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Dimension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14264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البعد الاقتصادي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00200" y="17556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sustainability information reduces informational friction on cost of capital. The sovereign green bond offers a tentative precedent — extending it to corporate issuers requires caution.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1600200" y="22402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تقلل معلومات الاستدامة الموثوقة الاحتكاك المعلوماتي في تكلفة رأس المال. يقدم السند الأخضر السيادي سابقة استرشادية - وتوسيعها للشركات يتطلب الحذر.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301752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0"/>
          <p:cNvSpPr/>
          <p:nvPr/>
        </p:nvSpPr>
        <p:spPr>
          <a:xfrm>
            <a:off x="859536" y="3273552"/>
            <a:ext cx="548640" cy="54864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14" name="Image 1" descr="/home/claude/paper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340522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16382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Dimension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80960" y="3163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البعد البيئي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600200" y="34930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discipline green accounting supplies is a precondition of resource-efficiency and circular-economy objectives.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1600200" y="3977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انضباط القياس الذي توفره المحاسبة الخضراء شرط مسبق لأهداف كفاءة الموارد والاقتصاد الدائري.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475488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123B5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Shape 16"/>
          <p:cNvSpPr/>
          <p:nvPr/>
        </p:nvSpPr>
        <p:spPr>
          <a:xfrm>
            <a:off x="859536" y="5010912"/>
            <a:ext cx="548640" cy="54864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1" name="Image 2" descr="/home/claude/paper/icons/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10" y="5142586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49011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Dimension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680960" y="49011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البعد الحوكمي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600200" y="523036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machine-readable reporting advances transparency: computable disclosure permits systematic supervisory analysis.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1600200" y="57150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تعزز التقارير المُهيكلة الشفافية: الإفصاح القابل للحوسبة يتيح تحليلاً رقابياً منهجياً.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 ·   النتائج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Conclusions (1/2)   ·   أربع نتائج تحليلية (١/٢)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96112" y="1508760"/>
            <a:ext cx="685800" cy="6858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896112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45389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is deep but transaction-bound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85623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35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الرقمنة عميقة لكنها مرتبطة بالمعاملات فقط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28800" y="231343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raises data quality across the economy, yet does not capture the physical resource flows sustainability measurement needs.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ترفع جودة البيانات في الاقتصاد ككل، لكنها لا ترصد تدفقات الموارد الفعلية التي يحتاجها قياس الاستدامة.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881360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896112" y="4114800"/>
            <a:ext cx="685800" cy="685800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896112" y="4114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05993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without a measurement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828800" y="44622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35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 بلا بنية قياس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28800" y="491947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Decrees 107/108 secure comparable output and ISSB-aligned structure, but not methodology, governance or assurance.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28800" y="544068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يضمن القراران 107/108 مخرجات قابلة للمقارنة وبنية متسقة مع ISSB، دون ضمان المنهجية أو الحوكمة أو التأكيد.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 ·   النتائج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Conclusions (2/2)   ·   أربع نتائج تحليلية (٢/٢)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96112" y="1508760"/>
            <a:ext cx="685800" cy="6858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896112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45389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accounting stays outside-in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85623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3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المحاسبة الخضراء تظل من الخارج إلى الداخل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28800" y="231343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regulator’s form rather than internal cost drivers, environmental data would remain detached from the ledger.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 يقودها نموذج الجهة الرقابية لا محركات التكلفة الداخلية، فتبقى البيانات البيئية منفصلة عن الدفاتر.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881360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896112" y="4114800"/>
            <a:ext cx="685800" cy="6858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896112" y="4114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05993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institutional, not technological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828800" y="44622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35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القيد الحقيقي مؤسسي لا تقني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28800" y="491947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technologies exist and are deployed for operational purposes; what is missing is governance discipline and combined competence.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28800" y="544068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اللازمة متوفرة ومستخدمة لأغراض تشغيلية؛ والناقص هو انضباط الحوكمة والكفاءة المهنية المُركّبة.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 ·   التوصيات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Roadmap for Four Audiences   ·   خارطة طريق لأربع فئات معنية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859536" y="1417320"/>
            <a:ext cx="475488" cy="475488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6" name="Image 0" descr="/home/claude/paper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53" y="153143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1709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11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الجهات الرقابية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7824" y="2240280"/>
            <a:ext cx="73152" cy="73152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1060704" y="213969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documented measurement methodology behind disclosure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1060704" y="24688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 بمنهجية قياس موثقة خلف الإفصاح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77824" y="3026664"/>
            <a:ext cx="73152" cy="73152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1060704" y="29260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phased pathway to independent assurance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1060704" y="32552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مسار تدريجي نحو التأكيد المستقل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877824" y="3813048"/>
            <a:ext cx="73152" cy="73152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1060704" y="37124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national machine-readable sustainability taxonomy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1060704" y="404164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تصنيف وطني قابل للقراءة الآلية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877824" y="4599432"/>
            <a:ext cx="73152" cy="73152"/>
          </a:xfrm>
          <a:prstGeom prst="ellipse">
            <a:avLst/>
          </a:prstGeom>
          <a:solidFill>
            <a:srgbClr val="11646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6"/>
          <p:cNvSpPr/>
          <p:nvPr/>
        </p:nvSpPr>
        <p:spPr>
          <a:xfrm>
            <a:off x="1060704" y="449884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simplified pathway for value-chain SMEs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1060704" y="4828032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إتاحة مسار مبسط للمنشآت الصغيرة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4343400" y="1207008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19"/>
          <p:cNvSpPr/>
          <p:nvPr/>
        </p:nvSpPr>
        <p:spPr>
          <a:xfrm>
            <a:off x="4562856" y="1417320"/>
            <a:ext cx="475488" cy="475488"/>
          </a:xfrm>
          <a:prstGeom prst="ellipse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23" name="Image 1" descr="/home/claude/paper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973" y="1531437"/>
            <a:ext cx="247254" cy="24725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636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166360" y="1709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معدّو التقارير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81144" y="2240280"/>
            <a:ext cx="73152" cy="73152"/>
          </a:xfrm>
          <a:prstGeom prst="ellipse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3"/>
          <p:cNvSpPr/>
          <p:nvPr/>
        </p:nvSpPr>
        <p:spPr>
          <a:xfrm>
            <a:off x="4764024" y="213969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measurement as inside-out, driven by cost drivers</a:t>
            </a:r>
            <a:endParaRPr lang="en-US" sz="980" dirty="0"/>
          </a:p>
        </p:txBody>
      </p:sp>
      <p:sp>
        <p:nvSpPr>
          <p:cNvPr id="28" name="Text 24"/>
          <p:cNvSpPr/>
          <p:nvPr/>
        </p:nvSpPr>
        <p:spPr>
          <a:xfrm>
            <a:off x="4764024" y="24688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توجيه القياس ليكون من الداخل إلى الخارج</a:t>
            </a:r>
            <a:endParaRPr lang="en-US" sz="980" dirty="0"/>
          </a:p>
        </p:txBody>
      </p:sp>
      <p:sp>
        <p:nvSpPr>
          <p:cNvPr id="29" name="Shape 25"/>
          <p:cNvSpPr/>
          <p:nvPr/>
        </p:nvSpPr>
        <p:spPr>
          <a:xfrm>
            <a:off x="4581144" y="3026664"/>
            <a:ext cx="73152" cy="73152"/>
          </a:xfrm>
          <a:prstGeom prst="ellipse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6"/>
          <p:cNvSpPr/>
          <p:nvPr/>
        </p:nvSpPr>
        <p:spPr>
          <a:xfrm>
            <a:off x="4764024" y="29260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physical units inside existing ERP systems</a:t>
            </a:r>
            <a:endParaRPr lang="en-US" sz="980" dirty="0"/>
          </a:p>
        </p:txBody>
      </p:sp>
      <p:sp>
        <p:nvSpPr>
          <p:cNvPr id="31" name="Text 27"/>
          <p:cNvSpPr/>
          <p:nvPr/>
        </p:nvSpPr>
        <p:spPr>
          <a:xfrm>
            <a:off x="4764024" y="32552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إدراج الوحدات الفعلية داخل أنظمة ERP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4581144" y="3813048"/>
            <a:ext cx="73152" cy="73152"/>
          </a:xfrm>
          <a:prstGeom prst="ellipse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29"/>
          <p:cNvSpPr/>
          <p:nvPr/>
        </p:nvSpPr>
        <p:spPr>
          <a:xfrm>
            <a:off x="4764024" y="37124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sustainability data ownership within finance</a:t>
            </a:r>
            <a:endParaRPr lang="en-US" sz="980" dirty="0"/>
          </a:p>
        </p:txBody>
      </p:sp>
      <p:sp>
        <p:nvSpPr>
          <p:cNvPr id="34" name="Text 30"/>
          <p:cNvSpPr/>
          <p:nvPr/>
        </p:nvSpPr>
        <p:spPr>
          <a:xfrm>
            <a:off x="4764024" y="404164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إسناد ملكية بيانات الاستدامة للإدارة المالية</a:t>
            </a:r>
            <a:endParaRPr lang="en-US" sz="980" dirty="0"/>
          </a:p>
        </p:txBody>
      </p:sp>
      <p:sp>
        <p:nvSpPr>
          <p:cNvPr id="35" name="Shape 31"/>
          <p:cNvSpPr/>
          <p:nvPr/>
        </p:nvSpPr>
        <p:spPr>
          <a:xfrm>
            <a:off x="4581144" y="4599432"/>
            <a:ext cx="73152" cy="73152"/>
          </a:xfrm>
          <a:prstGeom prst="ellipse">
            <a:avLst/>
          </a:prstGeom>
          <a:solidFill>
            <a:srgbClr val="0B2E4A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Text 32"/>
          <p:cNvSpPr/>
          <p:nvPr/>
        </p:nvSpPr>
        <p:spPr>
          <a:xfrm>
            <a:off x="4764024" y="449884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existing IoT/sensor instrumentation to ESG data</a:t>
            </a:r>
            <a:endParaRPr lang="en-US" sz="980" dirty="0"/>
          </a:p>
        </p:txBody>
      </p:sp>
      <p:sp>
        <p:nvSpPr>
          <p:cNvPr id="37" name="Text 33"/>
          <p:cNvSpPr/>
          <p:nvPr/>
        </p:nvSpPr>
        <p:spPr>
          <a:xfrm>
            <a:off x="4764024" y="4828032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توسيع أجهزة إنترنت الأشياء لتشمل بيانات ESG</a:t>
            </a:r>
            <a:endParaRPr lang="en-US" sz="980" dirty="0"/>
          </a:p>
        </p:txBody>
      </p:sp>
      <p:sp>
        <p:nvSpPr>
          <p:cNvPr id="38" name="Shape 34"/>
          <p:cNvSpPr/>
          <p:nvPr/>
        </p:nvSpPr>
        <p:spPr>
          <a:xfrm>
            <a:off x="8046720" y="1207008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9" name="Shape 35"/>
          <p:cNvSpPr/>
          <p:nvPr/>
        </p:nvSpPr>
        <p:spPr>
          <a:xfrm>
            <a:off x="8266176" y="1417320"/>
            <a:ext cx="475488" cy="475488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40" name="Image 2" descr="/home/claude/paper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293" y="1531437"/>
            <a:ext cx="247254" cy="24725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86968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&amp; Academia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8869680" y="1709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المراجعون والأكاديميا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8284464" y="2240280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4" name="Text 39"/>
          <p:cNvSpPr/>
          <p:nvPr/>
        </p:nvSpPr>
        <p:spPr>
          <a:xfrm>
            <a:off x="8467344" y="213969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assurance guidance for automated non-financial data</a:t>
            </a:r>
            <a:endParaRPr lang="en-US" sz="980" dirty="0"/>
          </a:p>
        </p:txBody>
      </p:sp>
      <p:sp>
        <p:nvSpPr>
          <p:cNvPr id="45" name="Text 40"/>
          <p:cNvSpPr/>
          <p:nvPr/>
        </p:nvSpPr>
        <p:spPr>
          <a:xfrm>
            <a:off x="8467344" y="24688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إرشادات تأكيد للبيانات غير المالية المؤتمتة</a:t>
            </a:r>
            <a:endParaRPr lang="en-US" sz="980" dirty="0"/>
          </a:p>
        </p:txBody>
      </p:sp>
      <p:sp>
        <p:nvSpPr>
          <p:cNvPr id="46" name="Shape 41"/>
          <p:cNvSpPr/>
          <p:nvPr/>
        </p:nvSpPr>
        <p:spPr>
          <a:xfrm>
            <a:off x="8284464" y="3026664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Text 42"/>
          <p:cNvSpPr/>
          <p:nvPr/>
        </p:nvSpPr>
        <p:spPr>
          <a:xfrm>
            <a:off x="8467344" y="2926080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environmental measurement into curricula</a:t>
            </a:r>
            <a:endParaRPr lang="en-US" sz="980" dirty="0"/>
          </a:p>
        </p:txBody>
      </p:sp>
      <p:sp>
        <p:nvSpPr>
          <p:cNvPr id="48" name="Text 43"/>
          <p:cNvSpPr/>
          <p:nvPr/>
        </p:nvSpPr>
        <p:spPr>
          <a:xfrm>
            <a:off x="8467344" y="32552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القياس البيئي في المناهج الدراسية</a:t>
            </a:r>
            <a:endParaRPr lang="en-US" sz="980" dirty="0"/>
          </a:p>
        </p:txBody>
      </p:sp>
      <p:sp>
        <p:nvSpPr>
          <p:cNvPr id="49" name="Shape 44"/>
          <p:cNvSpPr/>
          <p:nvPr/>
        </p:nvSpPr>
        <p:spPr>
          <a:xfrm>
            <a:off x="8284464" y="3813048"/>
            <a:ext cx="73152" cy="73152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Text 45"/>
          <p:cNvSpPr/>
          <p:nvPr/>
        </p:nvSpPr>
        <p:spPr>
          <a:xfrm>
            <a:off x="8467344" y="3712464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combined accounting + data-analytics competence</a:t>
            </a:r>
            <a:endParaRPr lang="en-US" sz="980" dirty="0"/>
          </a:p>
        </p:txBody>
      </p:sp>
      <p:sp>
        <p:nvSpPr>
          <p:cNvPr id="51" name="Text 46"/>
          <p:cNvSpPr/>
          <p:nvPr/>
        </p:nvSpPr>
        <p:spPr>
          <a:xfrm>
            <a:off x="8467344" y="404164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كفاءة مُركّبة بين المحاسبة وتحليل البيانات</a:t>
            </a:r>
            <a:endParaRPr lang="en-US" sz="980" dirty="0"/>
          </a:p>
        </p:txBody>
      </p:sp>
      <p:sp>
        <p:nvSpPr>
          <p:cNvPr id="52" name="Text 47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206240" cy="4206240"/>
          </a:xfrm>
          <a:prstGeom prst="ellipse">
            <a:avLst/>
          </a:prstGeom>
          <a:solidFill>
            <a:srgbClr val="116466">
              <a:alpha val="45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2FBF71">
              <a:alpha val="30000"/>
            </a:srgbClr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777240" y="548640"/>
            <a:ext cx="777240" cy="77724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5" name="Image 0" descr="/home/claude/paper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735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  ·   الخاتمة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information will attain the reliability of financial information only when it is produced within the same system, under the same governance, and subject to the same verification.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 تبلغ معلومات الاستدامة موثوقية المعلومات المالية إلا حين تُنتَج داخل النظام ذاته، وتحت الحوكمة ذاتها، وتخضع للتحقق ذاته.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3639312"/>
            <a:ext cx="2926080" cy="0"/>
          </a:xfrm>
          <a:prstGeom prst="line">
            <a:avLst/>
          </a:prstGeom>
          <a:noFill/>
          <a:ln w="2540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777240" y="385876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sustainability is an architectural and governance question — not a technological one. This study specifies the four conditions under which green accounting can be embedded within digital accounting infrastructure, in support of Egypt Vision 2030.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754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5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الاستدامة الرقمية مسألة بنيوية وحوكمية لا تقنية. تحدد هذه الدراسة الشروط الأربعة التي تتيح دمج المحاسبة الخضراء داخل البنية المحاسبية الرقمية، دعماً لرؤية مصر 2030.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   —   شكراً لكم · الأسئلة مرحب بها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 Salem · Alexandria University Faculty of Business Conference · September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2798</Words>
  <Application>Microsoft Macintosh PowerPoint</Application>
  <PresentationFormat>Widescreen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</cp:lastModifiedBy>
  <cp:revision>5</cp:revision>
  <dcterms:created xsi:type="dcterms:W3CDTF">2026-09-27T13:29:23Z</dcterms:created>
  <dcterms:modified xsi:type="dcterms:W3CDTF">2026-09-28T15:40:26Z</dcterms:modified>
</cp:coreProperties>
</file>