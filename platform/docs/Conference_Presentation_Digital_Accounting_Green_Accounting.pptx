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FBF71">
              <a:alpha val="30000"/>
            </a:srgbClr>
          </a:solidFill>
          <a:ln/>
        </p:spPr>
      </p:sp>
      <p:pic>
        <p:nvPicPr>
          <p:cNvPr id="4" name="Image 0" descr="/home/claude/paper/logo_alex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1216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594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 —  FACULTY OF BUSINESS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91640" y="93268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Conference on Digital Sustainability for Achieving Egypt Vision 2030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Transition to Digital Accounting and Financial</a:t>
            </a:r>
            <a:endParaRPr lang="en-US" sz="30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and the Institutionalisation of Green</a:t>
            </a:r>
            <a:endParaRPr lang="en-US" sz="3000" dirty="0"/>
          </a:p>
          <a:p>
            <a:pPr algn="l" indent="0" marL="0">
              <a:lnSpc>
                <a:spcPts val="37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 for Digital Sustainability in Egypt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Analytical Study in Light of Egypt Vision 2030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4892040"/>
            <a:ext cx="2926080" cy="0"/>
          </a:xfrm>
          <a:prstGeom prst="line">
            <a:avLst/>
          </a:prstGeom>
          <a:noFill/>
          <a:ln w="25400">
            <a:solidFill>
              <a:srgbClr val="2FBF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Salem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Finance Educator  |  Faculty of Mass Communication, Cairo University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57058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Researcher, Arab Academy for Management, Banking and Financial Sciences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11646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45389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6" name="Image 0" descr="/home/claude/paper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108" y="1581180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1453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0020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 &amp; Questions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digitalisation and sustainability accounting must be read as one problem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23444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1384" y="145389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2" name="Image 1" descr="/home/claude/paper/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68" y="1581180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1384" y="14538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22376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Theoretical Framework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Descriptive-analytical design; five guiding theories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28803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" y="309981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8" name="Image 2" descr="/home/claude/paper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08" y="3227100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" y="3099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60020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14400" y="3749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ten studies on digital accounting and sustainability establish — and leave open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63640" y="288036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01384" y="309981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4" name="Image 3" descr="/home/claude/paper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668" y="3227100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01384" y="30998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22376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Analysis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537960" y="37490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· disclosure regulation · green accounting practice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45262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7824" y="474573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30" name="Image 4" descr="/home/claude/paper/icons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08" y="4873020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7824" y="4745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1600200" y="4709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&amp; Constraints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14400" y="5394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that would connect the three layers, and what stands in the way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63640" y="45262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01384" y="4745736"/>
            <a:ext cx="530352" cy="53035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36" name="Image 5" descr="/home/claude/paper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668" y="4873020"/>
            <a:ext cx="275783" cy="27578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01384" y="47457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7223760" y="4709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Recommendations &amp; Conclusion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537960" y="5394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conclusions and a roadmap aligned with Egypt Vision 2030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E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2FBF71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097280"/>
            <a:ext cx="1188720" cy="118872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5" name="Image 0" descr="/home/claude/paper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773" y="138257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514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 that rarely meet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has been driven by fiscal imperatives; sustainability reporting by regulatory ones. This study asks whether the transition to digital accounting can be leveraged to institutionalise green accounting under Egypt Vision 2030.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National Policy Tracks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0" y="1234440"/>
            <a:ext cx="6949440" cy="1600200"/>
          </a:xfrm>
          <a:prstGeom prst="roundRect">
            <a:avLst>
              <a:gd name="adj" fmla="val 457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1435608"/>
            <a:ext cx="548640" cy="54864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2" name="Image 1" descr="/home/claude/paper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130" y="156728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380744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32120" y="1737360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State-led, fiscally motivated: mandatory e-invoicing and e-receipts capture transactions at scale — built around the transaction, not the resource flow.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0" y="3017520"/>
            <a:ext cx="6949440" cy="1600200"/>
          </a:xfrm>
          <a:prstGeom prst="roundRect">
            <a:avLst>
              <a:gd name="adj" fmla="val 457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91456" y="3218688"/>
            <a:ext cx="548640" cy="54864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7" name="Image 2" descr="/home/claude/paper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130" y="335036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3163824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disclosure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532120" y="3520440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 &amp; 108 (2021) mandate ESG output for listed firms — a disclosure requirement, not a measurement architecture.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0" y="4800600"/>
            <a:ext cx="6949440" cy="1600200"/>
          </a:xfrm>
          <a:prstGeom prst="roundRect">
            <a:avLst>
              <a:gd name="adj" fmla="val 4571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91456" y="5001768"/>
            <a:ext cx="548640" cy="54864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2" name="Image 3" descr="/home/claude/paper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30" y="5133442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4946904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532120" y="5303520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track specifies how sustainability data should be captured, governed and assured with the discipline applied to financial data.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77824" y="1307592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07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21615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drivers and current state of digital accounting and financial reporting in Egypt (2016–2026).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0515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01384" y="1307592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9" name="Text 7"/>
          <p:cNvSpPr/>
          <p:nvPr/>
        </p:nvSpPr>
        <p:spPr>
          <a:xfrm>
            <a:off x="6501384" y="1307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21615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the FRA sustainability disclosure regime has reshaped financial reporting, relative to the ISSB baseline.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2862072"/>
            <a:ext cx="457200" cy="457200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7706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green accounting can be embedded within digital infrastructure rather than layered upon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6060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1384" y="2862072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7706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institutional, professional and technical constraints limiting integration under Egypt Vision 2030.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Research Question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B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006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transition to digital accounting and financial reporting in Egypt be leveraged to institutionalise green accounting and digital sustainability in a manner consistent with Egypt Vision 2030?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114800"/>
            <a:ext cx="3657600" cy="3657600"/>
          </a:xfrm>
          <a:prstGeom prst="ellipse">
            <a:avLst/>
          </a:prstGeom>
          <a:solidFill>
            <a:srgbClr val="11646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Descriptive-analytical design, built on documentary analysis of secondary sources, 2016–2026.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828800"/>
            <a:ext cx="502920" cy="50292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7" name="Image 0" descr="/home/claude/paper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495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45059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 accounting &amp; auditing; environmental accounting; ESG disclosure in emerging markets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01568" y="160020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828800"/>
            <a:ext cx="502920" cy="50292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2" name="Image 1" descr="/home/claude/paper/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013" y="19495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245059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regulatory instruments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84448" y="3108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 &amp; 108 (2021); Egypt Vision 2030 strategy documents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63056" y="160020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7" name="Image 2" descr="/home/claude/paper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4950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45059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standard-setters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45936" y="3108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ISSB (IFRS S1/S2), GRI, TCFD pronouncements and supporting materials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24544" y="160020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23B5C"/>
          </a:solidFill>
          <a:ln/>
        </p:spPr>
      </p:sp>
      <p:sp>
        <p:nvSpPr>
          <p:cNvPr id="21" name="Shape 16"/>
          <p:cNvSpPr/>
          <p:nvPr/>
        </p:nvSpPr>
        <p:spPr>
          <a:xfrm>
            <a:off x="9162288" y="1828800"/>
            <a:ext cx="502920" cy="50292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22" name="Image 3" descr="/home/claude/paper/icons/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89" y="194950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07424" y="245059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Multilateral institution reports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07424" y="3108960"/>
            <a:ext cx="22677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reporting on sustainable finance in Egypt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3B5C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5138928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analysis only — no surveys, interviews or archival content analysis. Claims about internal entity-level practice are advanced as theoretical expectations grounded in institutional and legitimacy theory, not as verified facts. Institutional/systemic level, not individual-entity disclosure quality.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Foundations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perspectives, each addressing a distinct facet of the research problem.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6" name="Image 0" descr="/home/claude/paper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1713951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2402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Theory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743200"/>
            <a:ext cx="30358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extending the reporting boundary beyond equity providers to environmental and social performance (Freeman, 1984).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24528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3984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1" name="Image 1" descr="/home/claude/paper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79" y="1713951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25696" y="22402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 Theory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25696" y="2743200"/>
            <a:ext cx="30358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symbolic compliance: disclosure to secure legitimacy without underlying measurement (Suchman, 1995).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808976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28432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6" name="Image 2" descr="/home/claude/paper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27" y="1713951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10144" y="22402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Theory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10144" y="2743200"/>
            <a:ext cx="30358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Coercive, mimetic &amp; normative isomorphism; predicts decoupling of formal structure from practice (DiMaggio &amp; Powell, 1983).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19709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1" name="Image 3" descr="/home/claude/paper/icons/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31" y="4319991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84632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Theory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1248" y="5349240"/>
            <a:ext cx="30358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Credible, verified disclosure lowers cost of capital; unverified disclosure conveys little information (Spence, 1973).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24528" y="397764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43984" y="419709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6" name="Image 4" descr="/home/claude/paper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79" y="43199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25696" y="484632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 (TOE / UTAUT)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25696" y="5349240"/>
            <a:ext cx="30358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depends jointly on technology, organisational readiness &amp; environmental pressure (Tornatzky &amp; Fleischer, 1990; Venkatesh et al., 2003).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Establishes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1EC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1252728"/>
            <a:ext cx="621792" cy="62179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5" name="Image 0" descr="/home/claude/paper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766" y="1401958"/>
            <a:ext cx="323332" cy="323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161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reshapes evidence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691640" y="149047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and AI enable continuous, real-time verification (Dai &amp; Vasarhelyi, 2017; Han et al., 2023).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2585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1EC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" y="2459736"/>
            <a:ext cx="621792" cy="62179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0" name="Image 1" descr="/home/claude/paper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66" y="2608966"/>
            <a:ext cx="323332" cy="3233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36829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outpaces implementation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26974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remains conceptual; empirical evidence is scarce, especially in emerging markets (Garanina et al., 2022).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4655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1EC"/>
          </a:solidFill>
          <a:ln/>
        </p:spPr>
      </p:sp>
      <p:sp>
        <p:nvSpPr>
          <p:cNvPr id="14" name="Shape 10"/>
          <p:cNvSpPr/>
          <p:nvPr/>
        </p:nvSpPr>
        <p:spPr>
          <a:xfrm>
            <a:off x="859536" y="3666744"/>
            <a:ext cx="621792" cy="621792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5" name="Image 2" descr="/home/claude/paper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66" y="3815974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5753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can decouple from practice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91640" y="390448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often detached from measurement; governance determines the gap (Abdelmoneim &amp; El-Deeb, 2024).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75488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0B2E4A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4974336"/>
            <a:ext cx="594360" cy="59436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20" name="Image 3" descr="/home/claude/paper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116982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8920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study addresses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645920" y="5230368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literature examines whether the digital accounting infrastructure now being built in emerging economies can carry sustainability information at financial-statement reliability — the interface the Egyptian case is well suited to test.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Gap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and sustainability disclosure have advanced without a shared measurement architecture.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66160" cy="480060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828800"/>
            <a:ext cx="658368" cy="658368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7" name="Image 0" descr="/home/claude/paper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" y="19868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26151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7824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but narrow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77824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captures transactions at scale — but not physical resource flows (energy, water, emissions). Built around the transaction because the transaction is the object of fiscal interest.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554480"/>
            <a:ext cx="3566160" cy="480060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1828800"/>
            <a:ext cx="658368" cy="658368"/>
          </a:xfrm>
          <a:prstGeom prst="ellipse">
            <a:avLst/>
          </a:prstGeom>
          <a:solidFill>
            <a:srgbClr val="0B2E4A"/>
          </a:solidFill>
          <a:ln/>
        </p:spPr>
      </p:sp>
      <p:pic>
        <p:nvPicPr>
          <p:cNvPr id="13" name="Image 1" descr="/home/claude/paper/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56" y="198680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584" y="26151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Regulation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72584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Mandate, no method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72584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Decrees 107/108 standardise output via prescribed forms — without prescribing measurement methodology, governance or assurance.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229600" y="1554480"/>
            <a:ext cx="3566160" cy="4800600"/>
          </a:xfrm>
          <a:prstGeom prst="roundRect">
            <a:avLst>
              <a:gd name="adj" fmla="val 2564"/>
            </a:avLst>
          </a:prstGeom>
          <a:solidFill>
            <a:srgbClr val="F4F1E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1828800"/>
            <a:ext cx="658368" cy="658368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9" name="Image 2" descr="/home/claude/paper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216" y="1986808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67344" y="261518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Accounting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67344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not measuring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467344" y="333756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theoretical reading developed here, an outside-in configuration: the regulator’s form would drive data collection, keeping information external to the ledger.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1646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Sustainability as an Architectural Problem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would admit sustainability data into the accounting system as a first-class data class.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02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9536" y="254203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0" name="Image 0" descr="/home/claude/paper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662733"/>
            <a:ext cx="261518" cy="2615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Source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3840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consumption and emission data recorded at the point of occurrence, with the discipline applied to transaction capture.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01568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</p:sp>
      <p:sp>
        <p:nvSpPr>
          <p:cNvPr id="14" name="Shape 11"/>
          <p:cNvSpPr/>
          <p:nvPr/>
        </p:nvSpPr>
        <p:spPr>
          <a:xfrm>
            <a:off x="3621024" y="19202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5" name="Text 12"/>
          <p:cNvSpPr/>
          <p:nvPr/>
        </p:nvSpPr>
        <p:spPr>
          <a:xfrm>
            <a:off x="3621024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21024" y="254203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7" name="Image 1" descr="/home/claude/paper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725" y="2662733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84448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Governance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584448" y="3840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ownership, documented methodology, version control and access control — on the same basis as financial data.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63056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</p:sp>
      <p:sp>
        <p:nvSpPr>
          <p:cNvPr id="21" name="Shape 17"/>
          <p:cNvSpPr/>
          <p:nvPr/>
        </p:nvSpPr>
        <p:spPr>
          <a:xfrm>
            <a:off x="6382512" y="19202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22" name="Text 18"/>
          <p:cNvSpPr/>
          <p:nvPr/>
        </p:nvSpPr>
        <p:spPr>
          <a:xfrm>
            <a:off x="638251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382512" y="254203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4" name="Image 2" descr="/home/claude/paper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2662733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45936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Taxonomy-Based Reporting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345936" y="3840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machine-readable disclosures: computable and comparable across entities and periods.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924544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123B5C"/>
          </a:solidFill>
          <a:ln/>
        </p:spPr>
      </p:sp>
      <p:sp>
        <p:nvSpPr>
          <p:cNvPr id="28" name="Shape 23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29" name="Text 24"/>
          <p:cNvSpPr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9144000" y="2542032"/>
            <a:ext cx="502920" cy="50292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31" name="Image 3" descr="/home/claude/paper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701" y="2662733"/>
            <a:ext cx="261518" cy="26151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07424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Assurability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107424" y="38404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verifier can trace a reported figure to evidence and re-perform its computation.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Technology, Different Purpose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sensor infrastructure already exist in Egyptian industry — but not for sustainability reporting.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7" name="Image 0" descr="/home/claude/paper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848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deployed today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 systems, sensor networks and industrial IoT instrumentation — used chiefly for process control, predictive maintenance and quality assurance.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4251960"/>
            <a:ext cx="4343400" cy="0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Not, on available evidence, wired into sustainability reporting pipelines.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5029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contradiction with manual, spreadsheet-based ESG compilation described elsewhere: the two observations concern different uses of related technology.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0B2E4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5" name="Image 1" descr="/home/claude/paper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11957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084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46520" y="2834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availability of underlying technology, but the absence of: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3355848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9" name="Text 15"/>
          <p:cNvSpPr/>
          <p:nvPr/>
        </p:nvSpPr>
        <p:spPr>
          <a:xfrm>
            <a:off x="6693408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to extend existing instrumentation to sustainability data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92240" y="3922776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21" name="Text 17"/>
          <p:cNvSpPr/>
          <p:nvPr/>
        </p:nvSpPr>
        <p:spPr>
          <a:xfrm>
            <a:off x="6693408" y="38130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decision, in most entities, to make that extension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92240" y="4489704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43799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architectural discipline applied to financial data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92240" y="5056632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49469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competence to construct and audit such systems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Constraints on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6" name="Image 0" descr="/home/claude/paper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1713951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Competence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72491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must move between accounting, environmental measurement and data engineering — supply presently insufficient.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24528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4443984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1" name="Image 1" descr="/home/claude/paper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79" y="1713951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25696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Capability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25696" y="272491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environmental data needs methods beyond documentary evidence: instrumentation integrity, pipeline controls.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08976" y="137160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28432" y="159105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16" name="Image 2" descr="/home/claude/paper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27" y="1713951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10144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Footprint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10144" y="272491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and computation carry real energy costs — must sit within the reporting boundary itself.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859536" y="419709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1" name="Image 3" descr="/home/claude/paper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31" y="4319991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41248" y="533095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financial, operational and environmental data concentrates risk; security is a reliability condition.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24528" y="3977640"/>
            <a:ext cx="3401568" cy="2423160"/>
          </a:xfrm>
          <a:prstGeom prst="roundRect">
            <a:avLst>
              <a:gd name="adj" fmla="val 3396"/>
            </a:avLst>
          </a:prstGeom>
          <a:solidFill>
            <a:srgbClr val="F4F1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443984" y="4197096"/>
            <a:ext cx="512064" cy="512064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26" name="Image 4" descr="/home/claude/paper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79" y="43199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25696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Proportionality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25696" y="533095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thresholds push the data burden onto smaller value-chain suppliers who lack the capability to respond.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97680"/>
            <a:ext cx="3840480" cy="384048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Egypt Vision 2030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23B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594360" cy="59436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7" name="Image 0" descr="/home/claude/paper/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8342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00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Dimension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94767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comparable sustainability information reduces informational friction on cost of capital. The sovereign green bond offers a tentative, illustrative precedent — extending it to corporate issuers requires caution.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23B5C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319272"/>
            <a:ext cx="594360" cy="59436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2" name="Image 1" descr="/home/claude/paper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3461918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2278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Dimension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91640" y="3575304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discipline green accounting supplies is a precondition of resource-efficiency, emissions-reduction and circular-economy objectives: unmeasured consumption cannot be verifiably reduced.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672584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23B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946904"/>
            <a:ext cx="594360" cy="59436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7" name="Image 2" descr="/home/claude/paper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5089550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85546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Dimension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91640" y="5202936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machine-readable reporting advances transparency and accountability: computable disclosure permits systematic supervisory analysis, not document-by-document review.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Conclusions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655064"/>
            <a:ext cx="731520" cy="731520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550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63677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is deep but transaction-bound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167128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data quality across the economy, yet does not capture the physical resource flows sustainability measurement needs.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4032504"/>
            <a:ext cx="731520" cy="731520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0325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401421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without a measurement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4544568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Decrees 107/108 secure comparable output and ISSB-aligned structure, but not methodology, governance or assurance.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Conclusions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655064"/>
            <a:ext cx="731520" cy="73152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550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63677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accounting stays outside-in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167128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regulator’s form rather than internal cost drivers, environmental data would remain detached from the ledger.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4032504"/>
            <a:ext cx="731520" cy="73152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0325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401421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institutional, not technological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74520" y="4544568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technologies exist and are deployed for operational purposes; what is missing is governance discipline and combined professional competence.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Roadmap for Four Audiences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00200"/>
            <a:ext cx="548640" cy="548640"/>
          </a:xfrm>
          <a:prstGeom prst="ellipse">
            <a:avLst/>
          </a:prstGeom>
          <a:solidFill>
            <a:srgbClr val="116466"/>
          </a:solidFill>
          <a:ln/>
        </p:spPr>
      </p:sp>
      <p:pic>
        <p:nvPicPr>
          <p:cNvPr id="6" name="Image 0" descr="/home/claude/paper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2478024"/>
            <a:ext cx="82296" cy="82296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documented measurement methodology behind disclosure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374136"/>
            <a:ext cx="82296" cy="82296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phased pathway to independent assurance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270248"/>
            <a:ext cx="82296" cy="82296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national machine-readable sustainability taxonomy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5166360"/>
            <a:ext cx="82296" cy="82296"/>
          </a:xfrm>
          <a:prstGeom prst="ellipse">
            <a:avLst/>
          </a:prstGeom>
          <a:solidFill>
            <a:srgbClr val="116466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50383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simplified pathway for value-chain SMEs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4340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9432" y="1600200"/>
            <a:ext cx="548640" cy="548640"/>
          </a:xfrm>
          <a:prstGeom prst="ellipse">
            <a:avLst/>
          </a:prstGeom>
          <a:solidFill>
            <a:srgbClr val="0B2E4A"/>
          </a:solidFill>
          <a:ln/>
        </p:spPr>
      </p:sp>
      <p:pic>
        <p:nvPicPr>
          <p:cNvPr id="18" name="Image 1" descr="/home/claude/paper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173187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4617720" y="2478024"/>
            <a:ext cx="82296" cy="82296"/>
          </a:xfrm>
          <a:prstGeom prst="ellipse">
            <a:avLst/>
          </a:prstGeom>
          <a:solidFill>
            <a:srgbClr val="0B2E4A"/>
          </a:solidFill>
          <a:ln/>
        </p:spPr>
      </p:sp>
      <p:sp>
        <p:nvSpPr>
          <p:cNvPr id="21" name="Text 17"/>
          <p:cNvSpPr/>
          <p:nvPr/>
        </p:nvSpPr>
        <p:spPr>
          <a:xfrm>
            <a:off x="4818888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measurement as inside-out, driven by cost drivers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3374136"/>
            <a:ext cx="82296" cy="82296"/>
          </a:xfrm>
          <a:prstGeom prst="ellipse">
            <a:avLst/>
          </a:prstGeom>
          <a:solidFill>
            <a:srgbClr val="0B2E4A"/>
          </a:solidFill>
          <a:ln/>
        </p:spPr>
      </p:sp>
      <p:sp>
        <p:nvSpPr>
          <p:cNvPr id="23" name="Text 19"/>
          <p:cNvSpPr/>
          <p:nvPr/>
        </p:nvSpPr>
        <p:spPr>
          <a:xfrm>
            <a:off x="4818888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physical units inside existing ERP systems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17720" y="4270248"/>
            <a:ext cx="82296" cy="82296"/>
          </a:xfrm>
          <a:prstGeom prst="ellipse">
            <a:avLst/>
          </a:prstGeom>
          <a:solidFill>
            <a:srgbClr val="0B2E4A"/>
          </a:solidFill>
          <a:ln/>
        </p:spPr>
      </p:sp>
      <p:sp>
        <p:nvSpPr>
          <p:cNvPr id="25" name="Text 21"/>
          <p:cNvSpPr/>
          <p:nvPr/>
        </p:nvSpPr>
        <p:spPr>
          <a:xfrm>
            <a:off x="4818888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sustainability data ownership within finance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17720" y="5166360"/>
            <a:ext cx="82296" cy="82296"/>
          </a:xfrm>
          <a:prstGeom prst="ellipse">
            <a:avLst/>
          </a:prstGeom>
          <a:solidFill>
            <a:srgbClr val="0B2E4A"/>
          </a:solidFill>
          <a:ln/>
        </p:spPr>
      </p:sp>
      <p:sp>
        <p:nvSpPr>
          <p:cNvPr id="27" name="Text 23"/>
          <p:cNvSpPr/>
          <p:nvPr/>
        </p:nvSpPr>
        <p:spPr>
          <a:xfrm>
            <a:off x="4818888" y="50383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existing IoT/sensor instrumentation to ESG data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046720" y="137160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02752" y="1600200"/>
            <a:ext cx="548640" cy="54864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30" name="Image 2" descr="/home/claude/paper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173187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0068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&amp; Academia</a:t>
            </a:r>
            <a:endParaRPr lang="en-US" sz="1450" dirty="0"/>
          </a:p>
        </p:txBody>
      </p:sp>
      <p:sp>
        <p:nvSpPr>
          <p:cNvPr id="32" name="Shape 27"/>
          <p:cNvSpPr/>
          <p:nvPr/>
        </p:nvSpPr>
        <p:spPr>
          <a:xfrm>
            <a:off x="8321040" y="2478024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3" name="Text 28"/>
          <p:cNvSpPr/>
          <p:nvPr/>
        </p:nvSpPr>
        <p:spPr>
          <a:xfrm>
            <a:off x="8522208" y="235000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assurance guidance for automated non-financial data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321040" y="3374136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5" name="Text 30"/>
          <p:cNvSpPr/>
          <p:nvPr/>
        </p:nvSpPr>
        <p:spPr>
          <a:xfrm>
            <a:off x="8522208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environmental measurement into curricula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321040" y="4270248"/>
            <a:ext cx="82296" cy="82296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7" name="Text 32"/>
          <p:cNvSpPr/>
          <p:nvPr/>
        </p:nvSpPr>
        <p:spPr>
          <a:xfrm>
            <a:off x="8522208" y="414223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combined accounting + data-analytics competence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029200" y="6528816"/>
            <a:ext cx="6702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University Faculty of Business — Digital Sustainability Conference 2026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solidFill>
            <a:srgbClr val="1164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2FBF7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94360"/>
            <a:ext cx="822960" cy="82296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5" name="Image 0" descr="/home/claude/paper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791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7132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information will attain the reliability of financial information only when it is produced within the same system, under the same governance, and subject to the same verification.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77240" y="3429000"/>
            <a:ext cx="2926080" cy="0"/>
          </a:xfrm>
          <a:prstGeom prst="line">
            <a:avLst/>
          </a:prstGeom>
          <a:noFill/>
          <a:ln w="25400">
            <a:solidFill>
              <a:srgbClr val="2FBF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6576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sustainability is an architectural and governance question — not a technological one. This study specifies the four conditions under which green accounting can be embedded within digital accounting infrastructure, rather than layered upon it, in support of Egypt Vision 2030.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 Salem  ·  Alexandria University Faculty of Business Conference  ·  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2026-09-27T13:21:44Z</dcterms:created>
  <dcterms:modified xsi:type="dcterms:W3CDTF">2026-09-27T13:21:44Z</dcterms:modified>
</cp:coreProperties>
</file>